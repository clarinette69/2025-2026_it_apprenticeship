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0037AC-1698-4133-9620-E9B2A15F8E73}" v="1" dt="2024-10-08T09:35:29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1" d="100"/>
          <a:sy n="131" d="100"/>
        </p:scale>
        <p:origin x="1032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ZoneTexte 96"/>
          <p:cNvSpPr txBox="1"/>
          <p:nvPr/>
        </p:nvSpPr>
        <p:spPr>
          <a:xfrm>
            <a:off x="2285984" y="214290"/>
            <a:ext cx="4772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000" b="1" u="sng" dirty="0"/>
              <a:t>Concept IP d’un réseau - cahier des charges</a:t>
            </a:r>
          </a:p>
        </p:txBody>
      </p:sp>
      <p:sp>
        <p:nvSpPr>
          <p:cNvPr id="98" name="ZoneTexte 97"/>
          <p:cNvSpPr txBox="1"/>
          <p:nvPr/>
        </p:nvSpPr>
        <p:spPr>
          <a:xfrm>
            <a:off x="500034" y="785794"/>
            <a:ext cx="77294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/>
              <a:t>Vous êtes chargé de préparer le concept d’adressage IP d’un nouveau réseau. Ce réseau se compose de </a:t>
            </a:r>
          </a:p>
          <a:p>
            <a:r>
              <a:rPr lang="fr-CH" sz="1400" dirty="0"/>
              <a:t>3 sites (Bulle, Fribourg et </a:t>
            </a:r>
            <a:r>
              <a:rPr lang="fr-CH" sz="1400" dirty="0" err="1"/>
              <a:t>Guin</a:t>
            </a:r>
            <a:r>
              <a:rPr lang="fr-CH" sz="1400" dirty="0"/>
              <a:t>). Les routeurs de chaque site sont reliés par des lignes louées.</a:t>
            </a:r>
          </a:p>
        </p:txBody>
      </p:sp>
      <p:grpSp>
        <p:nvGrpSpPr>
          <p:cNvPr id="100" name="Groupe 99"/>
          <p:cNvGrpSpPr/>
          <p:nvPr/>
        </p:nvGrpSpPr>
        <p:grpSpPr>
          <a:xfrm>
            <a:off x="1763688" y="1285860"/>
            <a:ext cx="4880014" cy="2226720"/>
            <a:chOff x="419568" y="1345156"/>
            <a:chExt cx="7555261" cy="4156339"/>
          </a:xfrm>
        </p:grpSpPr>
        <p:sp>
          <p:nvSpPr>
            <p:cNvPr id="101" name="Freeform 9"/>
            <p:cNvSpPr>
              <a:spLocks/>
            </p:cNvSpPr>
            <p:nvPr/>
          </p:nvSpPr>
          <p:spPr bwMode="auto">
            <a:xfrm>
              <a:off x="3286116" y="2357431"/>
              <a:ext cx="2357454" cy="142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8" y="0"/>
                </a:cxn>
                <a:cxn ang="0">
                  <a:pos x="912" y="96"/>
                </a:cxn>
                <a:cxn ang="0">
                  <a:pos x="2016" y="96"/>
                </a:cxn>
              </a:cxnLst>
              <a:rect l="0" t="0" r="r" b="b"/>
              <a:pathLst>
                <a:path w="2017" h="97">
                  <a:moveTo>
                    <a:pt x="0" y="0"/>
                  </a:moveTo>
                  <a:lnTo>
                    <a:pt x="1008" y="0"/>
                  </a:lnTo>
                  <a:lnTo>
                    <a:pt x="912" y="96"/>
                  </a:lnTo>
                  <a:lnTo>
                    <a:pt x="2016" y="96"/>
                  </a:lnTo>
                </a:path>
              </a:pathLst>
            </a:custGeom>
            <a:noFill/>
            <a:ln w="25400" cap="rnd" cmpd="sng">
              <a:solidFill>
                <a:srgbClr val="CF0E3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/>
            <a:lstStyle/>
            <a:p>
              <a:endParaRPr lang="fr-CH"/>
            </a:p>
          </p:txBody>
        </p:sp>
        <p:sp>
          <p:nvSpPr>
            <p:cNvPr id="102" name="Freeform 9"/>
            <p:cNvSpPr>
              <a:spLocks/>
            </p:cNvSpPr>
            <p:nvPr/>
          </p:nvSpPr>
          <p:spPr bwMode="auto">
            <a:xfrm rot="2447719">
              <a:off x="2689227" y="3253082"/>
              <a:ext cx="2357454" cy="142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8" y="0"/>
                </a:cxn>
                <a:cxn ang="0">
                  <a:pos x="912" y="96"/>
                </a:cxn>
                <a:cxn ang="0">
                  <a:pos x="2016" y="96"/>
                </a:cxn>
              </a:cxnLst>
              <a:rect l="0" t="0" r="r" b="b"/>
              <a:pathLst>
                <a:path w="2017" h="97">
                  <a:moveTo>
                    <a:pt x="0" y="0"/>
                  </a:moveTo>
                  <a:lnTo>
                    <a:pt x="1008" y="0"/>
                  </a:lnTo>
                  <a:lnTo>
                    <a:pt x="912" y="96"/>
                  </a:lnTo>
                  <a:lnTo>
                    <a:pt x="2016" y="96"/>
                  </a:lnTo>
                </a:path>
              </a:pathLst>
            </a:custGeom>
            <a:noFill/>
            <a:ln w="25400" cap="rnd" cmpd="sng">
              <a:solidFill>
                <a:srgbClr val="CF0E3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/>
            <a:lstStyle/>
            <a:p>
              <a:endParaRPr lang="fr-CH"/>
            </a:p>
          </p:txBody>
        </p:sp>
        <p:sp>
          <p:nvSpPr>
            <p:cNvPr id="103" name="Freeform 9"/>
            <p:cNvSpPr>
              <a:spLocks/>
            </p:cNvSpPr>
            <p:nvPr/>
          </p:nvSpPr>
          <p:spPr bwMode="auto">
            <a:xfrm rot="18502200">
              <a:off x="4252400" y="3040167"/>
              <a:ext cx="2357454" cy="142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8" y="0"/>
                </a:cxn>
                <a:cxn ang="0">
                  <a:pos x="912" y="96"/>
                </a:cxn>
                <a:cxn ang="0">
                  <a:pos x="2016" y="96"/>
                </a:cxn>
              </a:cxnLst>
              <a:rect l="0" t="0" r="r" b="b"/>
              <a:pathLst>
                <a:path w="2017" h="97">
                  <a:moveTo>
                    <a:pt x="0" y="0"/>
                  </a:moveTo>
                  <a:lnTo>
                    <a:pt x="1008" y="0"/>
                  </a:lnTo>
                  <a:lnTo>
                    <a:pt x="912" y="96"/>
                  </a:lnTo>
                  <a:lnTo>
                    <a:pt x="2016" y="96"/>
                  </a:lnTo>
                </a:path>
              </a:pathLst>
            </a:custGeom>
            <a:noFill/>
            <a:ln w="25400" cap="rnd" cmpd="sng">
              <a:solidFill>
                <a:srgbClr val="CF0E3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/>
            <a:lstStyle/>
            <a:p>
              <a:endParaRPr lang="fr-CH"/>
            </a:p>
          </p:txBody>
        </p:sp>
        <p:pic>
          <p:nvPicPr>
            <p:cNvPr id="104" name="Picture 34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929058" y="5072868"/>
              <a:ext cx="500065" cy="4286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5" name="Line 47"/>
            <p:cNvSpPr>
              <a:spLocks noChangeShapeType="1"/>
            </p:cNvSpPr>
            <p:nvPr/>
          </p:nvSpPr>
          <p:spPr bwMode="auto">
            <a:xfrm>
              <a:off x="3714743" y="4669959"/>
              <a:ext cx="2886070" cy="45719"/>
            </a:xfrm>
            <a:prstGeom prst="line">
              <a:avLst/>
            </a:prstGeom>
            <a:noFill/>
            <a:ln w="25400">
              <a:solidFill>
                <a:srgbClr val="CF0E30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CH"/>
            </a:p>
          </p:txBody>
        </p:sp>
        <p:cxnSp>
          <p:nvCxnSpPr>
            <p:cNvPr id="106" name="Connecteur droit 105"/>
            <p:cNvCxnSpPr>
              <a:stCxn id="130" idx="2"/>
            </p:cNvCxnSpPr>
            <p:nvPr/>
          </p:nvCxnSpPr>
          <p:spPr>
            <a:xfrm rot="5400000">
              <a:off x="4458093" y="4504936"/>
              <a:ext cx="395294" cy="24603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eur droit 106"/>
            <p:cNvCxnSpPr/>
            <p:nvPr/>
          </p:nvCxnSpPr>
          <p:spPr>
            <a:xfrm rot="5400000">
              <a:off x="3566311" y="4720440"/>
              <a:ext cx="295276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/>
            <p:cNvCxnSpPr/>
            <p:nvPr/>
          </p:nvCxnSpPr>
          <p:spPr>
            <a:xfrm rot="5400000">
              <a:off x="6495269" y="4719646"/>
              <a:ext cx="295276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/>
            <p:cNvCxnSpPr/>
            <p:nvPr/>
          </p:nvCxnSpPr>
          <p:spPr>
            <a:xfrm rot="5400000">
              <a:off x="4035420" y="4894273"/>
              <a:ext cx="357190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0" name="Picture 34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000628" y="5072074"/>
              <a:ext cx="500065" cy="4286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11" name="Connecteur droit 110"/>
            <p:cNvCxnSpPr/>
            <p:nvPr/>
          </p:nvCxnSpPr>
          <p:spPr>
            <a:xfrm rot="5400000">
              <a:off x="5107785" y="4893479"/>
              <a:ext cx="357190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2" name="Picture 34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178695" y="2001830"/>
              <a:ext cx="500065" cy="4286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13" name="Line 47"/>
            <p:cNvSpPr>
              <a:spLocks noChangeShapeType="1"/>
            </p:cNvSpPr>
            <p:nvPr/>
          </p:nvSpPr>
          <p:spPr bwMode="auto">
            <a:xfrm rot="5400000" flipV="1">
              <a:off x="1272990" y="2300440"/>
              <a:ext cx="1500198" cy="45719"/>
            </a:xfrm>
            <a:prstGeom prst="line">
              <a:avLst/>
            </a:prstGeom>
            <a:noFill/>
            <a:ln w="25400">
              <a:solidFill>
                <a:srgbClr val="CF0E30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CH" dirty="0"/>
            </a:p>
          </p:txBody>
        </p:sp>
        <p:cxnSp>
          <p:nvCxnSpPr>
            <p:cNvPr id="114" name="Connecteur droit 113"/>
            <p:cNvCxnSpPr/>
            <p:nvPr/>
          </p:nvCxnSpPr>
          <p:spPr>
            <a:xfrm rot="10800000">
              <a:off x="2071670" y="2429662"/>
              <a:ext cx="1214446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eur droit 114"/>
            <p:cNvCxnSpPr/>
            <p:nvPr/>
          </p:nvCxnSpPr>
          <p:spPr>
            <a:xfrm rot="10800000">
              <a:off x="1847037" y="1571612"/>
              <a:ext cx="295276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eur droit 115"/>
            <p:cNvCxnSpPr/>
            <p:nvPr/>
          </p:nvCxnSpPr>
          <p:spPr>
            <a:xfrm rot="10800000">
              <a:off x="1919270" y="3071811"/>
              <a:ext cx="295276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eur droit 116"/>
            <p:cNvCxnSpPr/>
            <p:nvPr/>
          </p:nvCxnSpPr>
          <p:spPr>
            <a:xfrm rot="10800000" flipV="1">
              <a:off x="1571605" y="2144703"/>
              <a:ext cx="427833" cy="1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8" name="Picture 34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179489" y="2716209"/>
              <a:ext cx="500065" cy="4286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19" name="Connecteur droit 118"/>
            <p:cNvCxnSpPr/>
            <p:nvPr/>
          </p:nvCxnSpPr>
          <p:spPr>
            <a:xfrm rot="10800000">
              <a:off x="1643041" y="2859085"/>
              <a:ext cx="357190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0" name="Picture 34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474764" y="2571744"/>
              <a:ext cx="500065" cy="4286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21" name="Line 47"/>
            <p:cNvSpPr>
              <a:spLocks noChangeShapeType="1"/>
            </p:cNvSpPr>
            <p:nvPr/>
          </p:nvSpPr>
          <p:spPr bwMode="auto">
            <a:xfrm rot="16200000">
              <a:off x="6558930" y="2477445"/>
              <a:ext cx="1143008" cy="45719"/>
            </a:xfrm>
            <a:prstGeom prst="line">
              <a:avLst/>
            </a:prstGeom>
            <a:noFill/>
            <a:ln w="25400">
              <a:solidFill>
                <a:srgbClr val="CF0E30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CH"/>
            </a:p>
          </p:txBody>
        </p:sp>
        <p:cxnSp>
          <p:nvCxnSpPr>
            <p:cNvPr id="122" name="Connecteur droit 121"/>
            <p:cNvCxnSpPr/>
            <p:nvPr/>
          </p:nvCxnSpPr>
          <p:spPr>
            <a:xfrm>
              <a:off x="5929322" y="2428868"/>
              <a:ext cx="1214446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eur droit 122"/>
            <p:cNvCxnSpPr/>
            <p:nvPr/>
          </p:nvCxnSpPr>
          <p:spPr>
            <a:xfrm>
              <a:off x="7000892" y="3070222"/>
              <a:ext cx="295276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eur droit 123"/>
            <p:cNvCxnSpPr/>
            <p:nvPr/>
          </p:nvCxnSpPr>
          <p:spPr>
            <a:xfrm>
              <a:off x="7010417" y="1927214"/>
              <a:ext cx="295276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eur droit 124"/>
            <p:cNvCxnSpPr/>
            <p:nvPr/>
          </p:nvCxnSpPr>
          <p:spPr>
            <a:xfrm>
              <a:off x="7154087" y="2786058"/>
              <a:ext cx="357190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6" name="Picture 34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473970" y="2035960"/>
              <a:ext cx="500065" cy="4286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27" name="Connecteur droit 126"/>
            <p:cNvCxnSpPr/>
            <p:nvPr/>
          </p:nvCxnSpPr>
          <p:spPr>
            <a:xfrm>
              <a:off x="7153293" y="2213760"/>
              <a:ext cx="357190" cy="1588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8" name="Picture 37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28860" y="2143116"/>
              <a:ext cx="906462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9" name="Picture 37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43570" y="2143116"/>
              <a:ext cx="906462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0" name="Picture 37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14810" y="3786190"/>
              <a:ext cx="906462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31" name="ZoneTexte 130"/>
            <p:cNvSpPr txBox="1"/>
            <p:nvPr/>
          </p:nvSpPr>
          <p:spPr>
            <a:xfrm>
              <a:off x="419568" y="1345156"/>
              <a:ext cx="9750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dirty="0"/>
                <a:t>Fribourg</a:t>
              </a:r>
            </a:p>
          </p:txBody>
        </p:sp>
        <p:sp>
          <p:nvSpPr>
            <p:cNvPr id="132" name="ZoneTexte 131"/>
            <p:cNvSpPr txBox="1"/>
            <p:nvPr/>
          </p:nvSpPr>
          <p:spPr>
            <a:xfrm>
              <a:off x="7159615" y="1488032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dirty="0" err="1"/>
                <a:t>Guin</a:t>
              </a:r>
              <a:endParaRPr lang="fr-CH" dirty="0"/>
            </a:p>
          </p:txBody>
        </p:sp>
        <p:sp>
          <p:nvSpPr>
            <p:cNvPr id="133" name="ZoneTexte 132"/>
            <p:cNvSpPr txBox="1"/>
            <p:nvPr/>
          </p:nvSpPr>
          <p:spPr>
            <a:xfrm>
              <a:off x="5668691" y="4988494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H" dirty="0"/>
                <a:t>Bulle</a:t>
              </a:r>
            </a:p>
          </p:txBody>
        </p:sp>
      </p:grpSp>
      <p:sp>
        <p:nvSpPr>
          <p:cNvPr id="134" name="ZoneTexte 133"/>
          <p:cNvSpPr txBox="1"/>
          <p:nvPr/>
        </p:nvSpPr>
        <p:spPr>
          <a:xfrm>
            <a:off x="500034" y="3691598"/>
            <a:ext cx="873918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/>
              <a:t>Vous décidez d’utiliser le réseau d’adresse IP privée 172.16.0.0 255.255.0.0 pour adresser ce réseau. Sur chacun des </a:t>
            </a:r>
          </a:p>
          <a:p>
            <a:r>
              <a:rPr lang="fr-CH" sz="1400" dirty="0"/>
              <a:t>3 sites, nous devons disposer de 254 adresses IP.</a:t>
            </a:r>
          </a:p>
          <a:p>
            <a:endParaRPr lang="fr-CH" sz="1400" dirty="0"/>
          </a:p>
          <a:p>
            <a:r>
              <a:rPr lang="fr-CH" sz="1400" dirty="0"/>
              <a:t>Combien de sous-réseaux sont nécessaires pour adresser ce réseau?	………………........................................</a:t>
            </a:r>
          </a:p>
          <a:p>
            <a:r>
              <a:rPr lang="fr-CH" sz="1400" dirty="0"/>
              <a:t>Combien de bits faut-il réserver pour adresser jusqu’à 254 </a:t>
            </a:r>
            <a:r>
              <a:rPr lang="fr-CH" sz="1400" dirty="0" err="1"/>
              <a:t>PCs</a:t>
            </a:r>
            <a:r>
              <a:rPr lang="fr-CH" sz="1400" dirty="0"/>
              <a:t>?		…………………………………………………….. </a:t>
            </a:r>
          </a:p>
          <a:p>
            <a:r>
              <a:rPr lang="fr-CH" sz="1400" dirty="0"/>
              <a:t>Indiquez les bits permettant d’adresser les </a:t>
            </a:r>
            <a:r>
              <a:rPr lang="fr-CH" sz="1400" dirty="0" err="1"/>
              <a:t>PCs</a:t>
            </a:r>
            <a:r>
              <a:rPr lang="fr-CH" sz="1400" dirty="0"/>
              <a:t> (hosts) et les bits permettant d’adresser les sous-réseau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03591" y="5429264"/>
            <a:ext cx="1785950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5400" dirty="0"/>
              <a:t>172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003855" y="5429264"/>
            <a:ext cx="1785950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5400" dirty="0"/>
              <a:t>16</a:t>
            </a:r>
            <a:endParaRPr lang="fr-CH" dirty="0"/>
          </a:p>
        </p:txBody>
      </p:sp>
      <p:sp>
        <p:nvSpPr>
          <p:cNvPr id="137" name="Rectangle 136"/>
          <p:cNvSpPr/>
          <p:nvPr/>
        </p:nvSpPr>
        <p:spPr>
          <a:xfrm>
            <a:off x="5004119" y="5429264"/>
            <a:ext cx="1785950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8" name="Rectangle 137"/>
          <p:cNvSpPr/>
          <p:nvPr/>
        </p:nvSpPr>
        <p:spPr>
          <a:xfrm>
            <a:off x="7004383" y="5429264"/>
            <a:ext cx="1785950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9" name="ZoneTexte 138"/>
          <p:cNvSpPr txBox="1"/>
          <p:nvPr/>
        </p:nvSpPr>
        <p:spPr>
          <a:xfrm>
            <a:off x="2718103" y="5429264"/>
            <a:ext cx="3593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5400" dirty="0"/>
              <a:t>.</a:t>
            </a:r>
          </a:p>
        </p:txBody>
      </p:sp>
      <p:sp>
        <p:nvSpPr>
          <p:cNvPr id="140" name="ZoneTexte 139"/>
          <p:cNvSpPr txBox="1"/>
          <p:nvPr/>
        </p:nvSpPr>
        <p:spPr>
          <a:xfrm>
            <a:off x="4716163" y="5429264"/>
            <a:ext cx="3593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5400" dirty="0"/>
              <a:t>.</a:t>
            </a:r>
          </a:p>
        </p:txBody>
      </p:sp>
      <p:sp>
        <p:nvSpPr>
          <p:cNvPr id="141" name="ZoneTexte 140"/>
          <p:cNvSpPr txBox="1"/>
          <p:nvPr/>
        </p:nvSpPr>
        <p:spPr>
          <a:xfrm>
            <a:off x="6716427" y="5429264"/>
            <a:ext cx="3593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5400" dirty="0"/>
              <a:t>.</a:t>
            </a:r>
          </a:p>
        </p:txBody>
      </p:sp>
      <p:sp>
        <p:nvSpPr>
          <p:cNvPr id="142" name="ZoneTexte 141"/>
          <p:cNvSpPr txBox="1"/>
          <p:nvPr/>
        </p:nvSpPr>
        <p:spPr>
          <a:xfrm>
            <a:off x="-32" y="6215082"/>
            <a:ext cx="890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No bit:      1  2  3  4  5  6  7  8       1  2  3  4  5  6  7  8      1  2  3  4  5  6  7  8       1  2  3  4  5  6  7 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ZoneTexte 79"/>
          <p:cNvSpPr txBox="1"/>
          <p:nvPr/>
        </p:nvSpPr>
        <p:spPr>
          <a:xfrm>
            <a:off x="4195108" y="853843"/>
            <a:ext cx="2662908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CH" sz="1400" dirty="0"/>
              <a:t>Première @IP libre: …………………….</a:t>
            </a:r>
          </a:p>
          <a:p>
            <a:endParaRPr lang="fr-CH" sz="1400" dirty="0"/>
          </a:p>
          <a:p>
            <a:r>
              <a:rPr lang="fr-CH" sz="1400" dirty="0"/>
              <a:t>Dernière @IP libre: ..…………………..</a:t>
            </a:r>
          </a:p>
        </p:txBody>
      </p:sp>
      <p:sp>
        <p:nvSpPr>
          <p:cNvPr id="81" name="ZoneTexte 80"/>
          <p:cNvSpPr txBox="1"/>
          <p:nvPr/>
        </p:nvSpPr>
        <p:spPr>
          <a:xfrm>
            <a:off x="4195108" y="1700808"/>
            <a:ext cx="2662908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CH" sz="1400" dirty="0"/>
              <a:t>Première @IP libre: …………………….</a:t>
            </a:r>
          </a:p>
          <a:p>
            <a:endParaRPr lang="fr-CH" sz="1400" dirty="0"/>
          </a:p>
          <a:p>
            <a:r>
              <a:rPr lang="fr-CH" sz="1400" dirty="0"/>
              <a:t>Dernière @IP libre: ..…………………..</a:t>
            </a:r>
          </a:p>
        </p:txBody>
      </p:sp>
      <p:sp>
        <p:nvSpPr>
          <p:cNvPr id="82" name="ZoneTexte 81"/>
          <p:cNvSpPr txBox="1"/>
          <p:nvPr/>
        </p:nvSpPr>
        <p:spPr>
          <a:xfrm>
            <a:off x="4195108" y="2564334"/>
            <a:ext cx="2662908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CH" sz="1400" dirty="0"/>
              <a:t>Première @IP libre: …………………….</a:t>
            </a:r>
          </a:p>
          <a:p>
            <a:endParaRPr lang="fr-CH" sz="1400" dirty="0"/>
          </a:p>
          <a:p>
            <a:r>
              <a:rPr lang="fr-CH" sz="1400" dirty="0"/>
              <a:t>Dernière @IP libre: ..…………………..</a:t>
            </a:r>
          </a:p>
        </p:txBody>
      </p:sp>
      <p:sp>
        <p:nvSpPr>
          <p:cNvPr id="83" name="ZoneTexte 82"/>
          <p:cNvSpPr txBox="1"/>
          <p:nvPr/>
        </p:nvSpPr>
        <p:spPr>
          <a:xfrm>
            <a:off x="4195108" y="3421816"/>
            <a:ext cx="2662908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CH" sz="1400" dirty="0"/>
              <a:t>Première @IP libre: …………………….</a:t>
            </a:r>
          </a:p>
          <a:p>
            <a:endParaRPr lang="fr-CH" sz="1400" dirty="0"/>
          </a:p>
          <a:p>
            <a:r>
              <a:rPr lang="fr-CH" sz="1400" dirty="0"/>
              <a:t>Dernière @IP libre: ..…………………..</a:t>
            </a:r>
          </a:p>
        </p:txBody>
      </p:sp>
      <p:sp>
        <p:nvSpPr>
          <p:cNvPr id="84" name="ZoneTexte 83"/>
          <p:cNvSpPr txBox="1"/>
          <p:nvPr/>
        </p:nvSpPr>
        <p:spPr>
          <a:xfrm>
            <a:off x="4195108" y="4280212"/>
            <a:ext cx="2662908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CH" sz="1400" dirty="0"/>
              <a:t>Première @IP libre: …………………….</a:t>
            </a:r>
          </a:p>
          <a:p>
            <a:endParaRPr lang="fr-CH" sz="1400" dirty="0"/>
          </a:p>
          <a:p>
            <a:r>
              <a:rPr lang="fr-CH" sz="1400" dirty="0"/>
              <a:t>Dernière @IP libre: ..…………………..</a:t>
            </a:r>
          </a:p>
        </p:txBody>
      </p:sp>
      <p:sp>
        <p:nvSpPr>
          <p:cNvPr id="85" name="ZoneTexte 84"/>
          <p:cNvSpPr txBox="1"/>
          <p:nvPr/>
        </p:nvSpPr>
        <p:spPr>
          <a:xfrm>
            <a:off x="4195108" y="5138608"/>
            <a:ext cx="2662908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CH" sz="1400" dirty="0"/>
              <a:t>Première @IP libre: …………………….</a:t>
            </a:r>
          </a:p>
          <a:p>
            <a:endParaRPr lang="fr-CH" sz="1400" dirty="0"/>
          </a:p>
          <a:p>
            <a:r>
              <a:rPr lang="fr-CH" sz="1400" dirty="0"/>
              <a:t>Dernière @IP libre: ..…………………..</a:t>
            </a:r>
          </a:p>
        </p:txBody>
      </p:sp>
      <p:sp>
        <p:nvSpPr>
          <p:cNvPr id="88" name="ZoneTexte 87"/>
          <p:cNvSpPr txBox="1"/>
          <p:nvPr/>
        </p:nvSpPr>
        <p:spPr>
          <a:xfrm>
            <a:off x="539552" y="404664"/>
            <a:ext cx="3396764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000" b="1" dirty="0"/>
              <a:t>Réseau IP à disposition</a:t>
            </a:r>
          </a:p>
          <a:p>
            <a:r>
              <a:rPr lang="fr-CH" sz="1600" dirty="0"/>
              <a:t>Réseau </a:t>
            </a:r>
            <a:r>
              <a:rPr lang="fr-CH" sz="1600"/>
              <a:t>: 172.16.0.0</a:t>
            </a:r>
            <a:endParaRPr lang="fr-CH" sz="1600" dirty="0"/>
          </a:p>
          <a:p>
            <a:r>
              <a:rPr lang="fr-CH" sz="1600" dirty="0"/>
              <a:t>Masque: 255.255.0.0</a:t>
            </a:r>
          </a:p>
          <a:p>
            <a:endParaRPr lang="fr-CH" sz="1600" dirty="0"/>
          </a:p>
          <a:p>
            <a:r>
              <a:rPr lang="fr-CH" dirty="0"/>
              <a:t>Ce réseau IP est utilisé pour </a:t>
            </a:r>
          </a:p>
          <a:p>
            <a:r>
              <a:rPr lang="fr-CH" dirty="0"/>
              <a:t>créer les sous réseaux suivants </a:t>
            </a:r>
            <a:r>
              <a:rPr lang="fr-CH" dirty="0">
                <a:sym typeface="Wingdings" panose="05000000000000000000" pitchFamily="2" charset="2"/>
              </a:rPr>
              <a:t></a:t>
            </a:r>
            <a:endParaRPr lang="fr-CH" dirty="0"/>
          </a:p>
        </p:txBody>
      </p:sp>
      <p:sp>
        <p:nvSpPr>
          <p:cNvPr id="89" name="ZoneTexte 88"/>
          <p:cNvSpPr txBox="1"/>
          <p:nvPr/>
        </p:nvSpPr>
        <p:spPr>
          <a:xfrm>
            <a:off x="6876633" y="785794"/>
            <a:ext cx="18614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/>
              <a:t>Réseau : ……………………</a:t>
            </a:r>
          </a:p>
          <a:p>
            <a:r>
              <a:rPr lang="fr-CH" sz="1400" dirty="0"/>
              <a:t>Masque: …………………..</a:t>
            </a:r>
          </a:p>
          <a:p>
            <a:r>
              <a:rPr lang="fr-CH" sz="1400" dirty="0" err="1"/>
              <a:t>Broadcast</a:t>
            </a:r>
            <a:r>
              <a:rPr lang="fr-CH" sz="1400" dirty="0"/>
              <a:t>: ………………..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6858016" y="1700808"/>
            <a:ext cx="18614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/>
              <a:t>Réseau : ……………………</a:t>
            </a:r>
          </a:p>
          <a:p>
            <a:r>
              <a:rPr lang="fr-CH" sz="1400" dirty="0"/>
              <a:t>Masque: …………………..</a:t>
            </a:r>
          </a:p>
          <a:p>
            <a:r>
              <a:rPr lang="fr-CH" sz="1400" dirty="0" err="1"/>
              <a:t>Broadcast</a:t>
            </a:r>
            <a:r>
              <a:rPr lang="fr-CH" sz="1400" dirty="0"/>
              <a:t>: ………………..</a:t>
            </a:r>
          </a:p>
        </p:txBody>
      </p:sp>
      <p:sp>
        <p:nvSpPr>
          <p:cNvPr id="91" name="ZoneTexte 90"/>
          <p:cNvSpPr txBox="1"/>
          <p:nvPr/>
        </p:nvSpPr>
        <p:spPr>
          <a:xfrm>
            <a:off x="6858016" y="2492896"/>
            <a:ext cx="18614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/>
              <a:t>Réseau : ……………………</a:t>
            </a:r>
          </a:p>
          <a:p>
            <a:r>
              <a:rPr lang="fr-CH" sz="1400" dirty="0"/>
              <a:t>Masque: …………………..</a:t>
            </a:r>
          </a:p>
          <a:p>
            <a:r>
              <a:rPr lang="fr-CH" sz="1400" dirty="0" err="1"/>
              <a:t>Broadcast</a:t>
            </a:r>
            <a:r>
              <a:rPr lang="fr-CH" sz="1400" dirty="0"/>
              <a:t>: ………………..</a:t>
            </a:r>
          </a:p>
        </p:txBody>
      </p:sp>
      <p:sp>
        <p:nvSpPr>
          <p:cNvPr id="92" name="ZoneTexte 91"/>
          <p:cNvSpPr txBox="1"/>
          <p:nvPr/>
        </p:nvSpPr>
        <p:spPr>
          <a:xfrm>
            <a:off x="6858016" y="3207276"/>
            <a:ext cx="18614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/>
              <a:t>Réseau : ……………………</a:t>
            </a:r>
          </a:p>
          <a:p>
            <a:r>
              <a:rPr lang="fr-CH" sz="1400" dirty="0"/>
              <a:t>Masque: …………………..</a:t>
            </a:r>
          </a:p>
          <a:p>
            <a:r>
              <a:rPr lang="fr-CH" sz="1400" dirty="0" err="1"/>
              <a:t>Broadcast</a:t>
            </a:r>
            <a:r>
              <a:rPr lang="fr-CH" sz="1400" dirty="0"/>
              <a:t>: ………………..</a:t>
            </a:r>
          </a:p>
        </p:txBody>
      </p:sp>
      <p:sp>
        <p:nvSpPr>
          <p:cNvPr id="93" name="ZoneTexte 92"/>
          <p:cNvSpPr txBox="1"/>
          <p:nvPr/>
        </p:nvSpPr>
        <p:spPr>
          <a:xfrm>
            <a:off x="6858016" y="4064758"/>
            <a:ext cx="18614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/>
              <a:t>Réseau : ……………………</a:t>
            </a:r>
          </a:p>
          <a:p>
            <a:r>
              <a:rPr lang="fr-CH" sz="1400" dirty="0"/>
              <a:t>Masque: …………………..</a:t>
            </a:r>
          </a:p>
          <a:p>
            <a:r>
              <a:rPr lang="fr-CH" sz="1400" dirty="0" err="1"/>
              <a:t>Broadcast</a:t>
            </a:r>
            <a:r>
              <a:rPr lang="fr-CH" sz="1400" dirty="0"/>
              <a:t>: ………………..</a:t>
            </a:r>
          </a:p>
        </p:txBody>
      </p:sp>
      <p:sp>
        <p:nvSpPr>
          <p:cNvPr id="94" name="ZoneTexte 93"/>
          <p:cNvSpPr txBox="1"/>
          <p:nvPr/>
        </p:nvSpPr>
        <p:spPr>
          <a:xfrm>
            <a:off x="6858016" y="4923154"/>
            <a:ext cx="18614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/>
              <a:t>Réseau : ……………………</a:t>
            </a:r>
          </a:p>
          <a:p>
            <a:r>
              <a:rPr lang="fr-CH" sz="1400" dirty="0"/>
              <a:t>Masque: …………………..</a:t>
            </a:r>
          </a:p>
          <a:p>
            <a:r>
              <a:rPr lang="fr-CH" sz="1400" dirty="0" err="1"/>
              <a:t>Broadcast</a:t>
            </a:r>
            <a:r>
              <a:rPr lang="fr-CH" sz="1400" dirty="0"/>
              <a:t>: ………………..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71A84BB-D999-D15D-AE85-386BB6A31A87}"/>
              </a:ext>
            </a:extLst>
          </p:cNvPr>
          <p:cNvSpPr txBox="1"/>
          <p:nvPr/>
        </p:nvSpPr>
        <p:spPr>
          <a:xfrm>
            <a:off x="4067944" y="404664"/>
            <a:ext cx="1778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2000" b="1" dirty="0"/>
              <a:t>Sous réseau IP </a:t>
            </a:r>
            <a:endParaRPr lang="fr-CH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Ellipse 75"/>
          <p:cNvSpPr/>
          <p:nvPr/>
        </p:nvSpPr>
        <p:spPr>
          <a:xfrm>
            <a:off x="1000100" y="4429132"/>
            <a:ext cx="7143800" cy="221457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200" dirty="0">
                <a:solidFill>
                  <a:schemeClr val="tx1"/>
                </a:solidFill>
              </a:rPr>
              <a:t>Adresse réseau</a:t>
            </a:r>
          </a:p>
          <a:p>
            <a:r>
              <a:rPr lang="fr-CH" sz="1200" dirty="0">
                <a:solidFill>
                  <a:schemeClr val="tx1"/>
                </a:solidFill>
              </a:rPr>
              <a:t>……………………………..</a:t>
            </a:r>
          </a:p>
          <a:p>
            <a:r>
              <a:rPr lang="fr-CH" sz="1200" dirty="0">
                <a:solidFill>
                  <a:schemeClr val="tx1"/>
                </a:solidFill>
              </a:rPr>
              <a:t>Masque de sous réseau</a:t>
            </a:r>
          </a:p>
          <a:p>
            <a:r>
              <a:rPr lang="fr-CH" sz="1200" dirty="0">
                <a:solidFill>
                  <a:schemeClr val="tx1"/>
                </a:solidFill>
              </a:rPr>
              <a:t>……………………………..</a:t>
            </a:r>
          </a:p>
          <a:p>
            <a:r>
              <a:rPr lang="fr-CH" sz="1200" dirty="0">
                <a:solidFill>
                  <a:schemeClr val="tx1"/>
                </a:solidFill>
              </a:rPr>
              <a:t>Adresse de </a:t>
            </a:r>
            <a:r>
              <a:rPr lang="fr-CH" sz="1200" dirty="0" err="1">
                <a:solidFill>
                  <a:schemeClr val="tx1"/>
                </a:solidFill>
              </a:rPr>
              <a:t>broadcast</a:t>
            </a:r>
            <a:endParaRPr lang="fr-CH" sz="1200" dirty="0">
              <a:solidFill>
                <a:schemeClr val="tx1"/>
              </a:solidFill>
            </a:endParaRPr>
          </a:p>
          <a:p>
            <a:r>
              <a:rPr lang="fr-CH" sz="1200" dirty="0">
                <a:solidFill>
                  <a:schemeClr val="tx1"/>
                </a:solidFill>
              </a:rPr>
              <a:t>……………………………..</a:t>
            </a:r>
          </a:p>
          <a:p>
            <a:endParaRPr lang="fr-CH" sz="1200" dirty="0">
              <a:solidFill>
                <a:schemeClr val="tx1"/>
              </a:solidFill>
            </a:endParaRPr>
          </a:p>
          <a:p>
            <a:endParaRPr lang="fr-CH" sz="1200" dirty="0">
              <a:solidFill>
                <a:schemeClr val="tx1"/>
              </a:solidFill>
            </a:endParaRPr>
          </a:p>
        </p:txBody>
      </p:sp>
      <p:sp>
        <p:nvSpPr>
          <p:cNvPr id="75" name="Ellipse 74"/>
          <p:cNvSpPr/>
          <p:nvPr/>
        </p:nvSpPr>
        <p:spPr>
          <a:xfrm>
            <a:off x="6643702" y="-24"/>
            <a:ext cx="2428860" cy="328612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CH" sz="1200" dirty="0">
                <a:solidFill>
                  <a:schemeClr val="tx1"/>
                </a:solidFill>
              </a:rPr>
              <a:t>Adresse réseau</a:t>
            </a:r>
          </a:p>
          <a:p>
            <a:pPr algn="r"/>
            <a:r>
              <a:rPr lang="fr-CH" sz="1200" dirty="0">
                <a:solidFill>
                  <a:schemeClr val="tx1"/>
                </a:solidFill>
              </a:rPr>
              <a:t>……………………….</a:t>
            </a:r>
          </a:p>
          <a:p>
            <a:pPr algn="r"/>
            <a:r>
              <a:rPr lang="fr-CH" sz="1200" dirty="0">
                <a:solidFill>
                  <a:schemeClr val="tx1"/>
                </a:solidFill>
              </a:rPr>
              <a:t>Masque de sous</a:t>
            </a:r>
          </a:p>
          <a:p>
            <a:pPr algn="r"/>
            <a:r>
              <a:rPr lang="fr-CH" sz="1200" dirty="0">
                <a:solidFill>
                  <a:schemeClr val="tx1"/>
                </a:solidFill>
              </a:rPr>
              <a:t>réseau</a:t>
            </a:r>
          </a:p>
          <a:p>
            <a:pPr algn="r"/>
            <a:r>
              <a:rPr lang="fr-CH" sz="1200" dirty="0">
                <a:solidFill>
                  <a:schemeClr val="tx1"/>
                </a:solidFill>
              </a:rPr>
              <a:t>………………………</a:t>
            </a:r>
          </a:p>
          <a:p>
            <a:pPr algn="r"/>
            <a:r>
              <a:rPr lang="fr-CH" sz="1200" dirty="0">
                <a:solidFill>
                  <a:schemeClr val="tx1"/>
                </a:solidFill>
              </a:rPr>
              <a:t>Adresse de</a:t>
            </a:r>
          </a:p>
          <a:p>
            <a:pPr algn="r"/>
            <a:r>
              <a:rPr lang="fr-CH" sz="1200" dirty="0" err="1">
                <a:solidFill>
                  <a:schemeClr val="tx1"/>
                </a:solidFill>
              </a:rPr>
              <a:t>broadcast</a:t>
            </a:r>
            <a:endParaRPr lang="fr-CH" sz="1200" dirty="0">
              <a:solidFill>
                <a:schemeClr val="tx1"/>
              </a:solidFill>
            </a:endParaRPr>
          </a:p>
          <a:p>
            <a:pPr algn="r"/>
            <a:r>
              <a:rPr lang="fr-CH" sz="1200" dirty="0">
                <a:solidFill>
                  <a:schemeClr val="tx1"/>
                </a:solidFill>
              </a:rPr>
              <a:t>………………………</a:t>
            </a:r>
          </a:p>
          <a:p>
            <a:pPr algn="r"/>
            <a:endParaRPr lang="fr-CH" sz="1200" dirty="0">
              <a:solidFill>
                <a:schemeClr val="tx1"/>
              </a:solidFill>
            </a:endParaRPr>
          </a:p>
          <a:p>
            <a:pPr algn="r"/>
            <a:endParaRPr lang="fr-CH" sz="1200" dirty="0">
              <a:solidFill>
                <a:schemeClr val="tx1"/>
              </a:solidFill>
            </a:endParaRPr>
          </a:p>
          <a:p>
            <a:pPr algn="r"/>
            <a:endParaRPr lang="fr-CH" sz="1200" dirty="0">
              <a:solidFill>
                <a:schemeClr val="tx1"/>
              </a:solidFill>
            </a:endParaRPr>
          </a:p>
          <a:p>
            <a:pPr algn="r"/>
            <a:endParaRPr lang="fr-CH" sz="1200" dirty="0">
              <a:solidFill>
                <a:schemeClr val="tx1"/>
              </a:solidFill>
            </a:endParaRPr>
          </a:p>
          <a:p>
            <a:pPr algn="r"/>
            <a:endParaRPr lang="fr-CH" sz="1200" dirty="0">
              <a:solidFill>
                <a:schemeClr val="tx1"/>
              </a:solidFill>
            </a:endParaRPr>
          </a:p>
        </p:txBody>
      </p:sp>
      <p:sp>
        <p:nvSpPr>
          <p:cNvPr id="72" name="Ellipse 71"/>
          <p:cNvSpPr/>
          <p:nvPr/>
        </p:nvSpPr>
        <p:spPr>
          <a:xfrm>
            <a:off x="0" y="0"/>
            <a:ext cx="2428860" cy="328612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200" dirty="0">
                <a:solidFill>
                  <a:schemeClr val="tx1"/>
                </a:solidFill>
              </a:rPr>
              <a:t>Adresse réseau</a:t>
            </a:r>
          </a:p>
          <a:p>
            <a:r>
              <a:rPr lang="fr-CH" sz="1200" dirty="0">
                <a:solidFill>
                  <a:schemeClr val="tx1"/>
                </a:solidFill>
              </a:rPr>
              <a:t>……………………….</a:t>
            </a:r>
          </a:p>
          <a:p>
            <a:r>
              <a:rPr lang="fr-CH" sz="1200" dirty="0">
                <a:solidFill>
                  <a:schemeClr val="tx1"/>
                </a:solidFill>
              </a:rPr>
              <a:t>Masque de sous</a:t>
            </a:r>
          </a:p>
          <a:p>
            <a:r>
              <a:rPr lang="fr-CH" sz="1200" dirty="0">
                <a:solidFill>
                  <a:schemeClr val="tx1"/>
                </a:solidFill>
              </a:rPr>
              <a:t>réseau</a:t>
            </a:r>
          </a:p>
          <a:p>
            <a:r>
              <a:rPr lang="fr-CH" sz="1200" dirty="0">
                <a:solidFill>
                  <a:schemeClr val="tx1"/>
                </a:solidFill>
              </a:rPr>
              <a:t>………………………</a:t>
            </a:r>
          </a:p>
          <a:p>
            <a:r>
              <a:rPr lang="fr-CH" sz="1200" dirty="0">
                <a:solidFill>
                  <a:schemeClr val="tx1"/>
                </a:solidFill>
              </a:rPr>
              <a:t>Adresse de</a:t>
            </a:r>
          </a:p>
          <a:p>
            <a:r>
              <a:rPr lang="fr-CH" sz="1200" dirty="0" err="1">
                <a:solidFill>
                  <a:schemeClr val="tx1"/>
                </a:solidFill>
              </a:rPr>
              <a:t>broadcast</a:t>
            </a:r>
            <a:endParaRPr lang="fr-CH" sz="1200" dirty="0">
              <a:solidFill>
                <a:schemeClr val="tx1"/>
              </a:solidFill>
            </a:endParaRPr>
          </a:p>
          <a:p>
            <a:r>
              <a:rPr lang="fr-CH" sz="1200" dirty="0">
                <a:solidFill>
                  <a:schemeClr val="tx1"/>
                </a:solidFill>
              </a:rPr>
              <a:t>………………………</a:t>
            </a:r>
          </a:p>
          <a:p>
            <a:endParaRPr lang="fr-CH" sz="1200" dirty="0">
              <a:solidFill>
                <a:schemeClr val="tx1"/>
              </a:solidFill>
            </a:endParaRPr>
          </a:p>
          <a:p>
            <a:endParaRPr lang="fr-CH" sz="1200" dirty="0">
              <a:solidFill>
                <a:schemeClr val="tx1"/>
              </a:solidFill>
            </a:endParaRPr>
          </a:p>
          <a:p>
            <a:endParaRPr lang="fr-CH" sz="1200" dirty="0">
              <a:solidFill>
                <a:schemeClr val="tx1"/>
              </a:solidFill>
            </a:endParaRPr>
          </a:p>
          <a:p>
            <a:endParaRPr lang="fr-CH" sz="1200" dirty="0">
              <a:solidFill>
                <a:schemeClr val="tx1"/>
              </a:solidFill>
            </a:endParaRPr>
          </a:p>
          <a:p>
            <a:endParaRPr lang="fr-CH" sz="1200" dirty="0">
              <a:solidFill>
                <a:schemeClr val="tx1"/>
              </a:solidFill>
            </a:endParaRPr>
          </a:p>
        </p:txBody>
      </p:sp>
      <p:sp>
        <p:nvSpPr>
          <p:cNvPr id="71" name="Ellipse 70"/>
          <p:cNvSpPr/>
          <p:nvPr/>
        </p:nvSpPr>
        <p:spPr>
          <a:xfrm>
            <a:off x="1785918" y="2643182"/>
            <a:ext cx="2643206" cy="17145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200" dirty="0">
                <a:solidFill>
                  <a:schemeClr val="tx1"/>
                </a:solidFill>
              </a:rPr>
              <a:t>Adresse réseau</a:t>
            </a:r>
          </a:p>
          <a:p>
            <a:r>
              <a:rPr lang="fr-CH" sz="1200" dirty="0">
                <a:solidFill>
                  <a:schemeClr val="tx1"/>
                </a:solidFill>
              </a:rPr>
              <a:t>……………………………..</a:t>
            </a:r>
          </a:p>
          <a:p>
            <a:r>
              <a:rPr lang="fr-CH" sz="1200" dirty="0">
                <a:solidFill>
                  <a:schemeClr val="tx1"/>
                </a:solidFill>
              </a:rPr>
              <a:t>Masque de sous réseau</a:t>
            </a:r>
          </a:p>
          <a:p>
            <a:r>
              <a:rPr lang="fr-CH" sz="1200" dirty="0">
                <a:solidFill>
                  <a:schemeClr val="tx1"/>
                </a:solidFill>
              </a:rPr>
              <a:t>……………………………..</a:t>
            </a:r>
          </a:p>
          <a:p>
            <a:r>
              <a:rPr lang="fr-CH" sz="1200" dirty="0">
                <a:solidFill>
                  <a:schemeClr val="tx1"/>
                </a:solidFill>
              </a:rPr>
              <a:t>Adresse de </a:t>
            </a:r>
            <a:r>
              <a:rPr lang="fr-CH" sz="1200" dirty="0" err="1">
                <a:solidFill>
                  <a:schemeClr val="tx1"/>
                </a:solidFill>
              </a:rPr>
              <a:t>broadcast</a:t>
            </a:r>
            <a:endParaRPr lang="fr-CH" sz="1200" dirty="0">
              <a:solidFill>
                <a:schemeClr val="tx1"/>
              </a:solidFill>
            </a:endParaRPr>
          </a:p>
          <a:p>
            <a:r>
              <a:rPr lang="fr-CH" sz="1200" dirty="0">
                <a:solidFill>
                  <a:schemeClr val="tx1"/>
                </a:solidFill>
              </a:rPr>
              <a:t>……………………………..</a:t>
            </a:r>
          </a:p>
          <a:p>
            <a:endParaRPr lang="fr-CH" sz="1200" dirty="0">
              <a:solidFill>
                <a:schemeClr val="tx1"/>
              </a:solidFill>
            </a:endParaRPr>
          </a:p>
        </p:txBody>
      </p:sp>
      <p:sp>
        <p:nvSpPr>
          <p:cNvPr id="70" name="Ellipse 69"/>
          <p:cNvSpPr/>
          <p:nvPr/>
        </p:nvSpPr>
        <p:spPr>
          <a:xfrm>
            <a:off x="4643438" y="2571744"/>
            <a:ext cx="2643206" cy="185738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CH" sz="1200" dirty="0">
              <a:solidFill>
                <a:schemeClr val="tx1"/>
              </a:solidFill>
            </a:endParaRPr>
          </a:p>
          <a:p>
            <a:pPr algn="r"/>
            <a:endParaRPr lang="fr-CH" sz="1200" dirty="0">
              <a:solidFill>
                <a:schemeClr val="tx1"/>
              </a:solidFill>
            </a:endParaRPr>
          </a:p>
          <a:p>
            <a:pPr algn="r"/>
            <a:r>
              <a:rPr lang="fr-CH" sz="1200" dirty="0">
                <a:solidFill>
                  <a:schemeClr val="tx1"/>
                </a:solidFill>
              </a:rPr>
              <a:t>Adresse réseau</a:t>
            </a:r>
          </a:p>
          <a:p>
            <a:pPr algn="r"/>
            <a:r>
              <a:rPr lang="fr-CH" sz="1200" dirty="0">
                <a:solidFill>
                  <a:schemeClr val="tx1"/>
                </a:solidFill>
              </a:rPr>
              <a:t>……………………………..</a:t>
            </a:r>
          </a:p>
          <a:p>
            <a:pPr algn="r"/>
            <a:r>
              <a:rPr lang="fr-CH" sz="1200" dirty="0">
                <a:solidFill>
                  <a:schemeClr val="tx1"/>
                </a:solidFill>
              </a:rPr>
              <a:t>Masque de sous réseau</a:t>
            </a:r>
          </a:p>
          <a:p>
            <a:pPr algn="r"/>
            <a:r>
              <a:rPr lang="fr-CH" sz="1200" dirty="0">
                <a:solidFill>
                  <a:schemeClr val="tx1"/>
                </a:solidFill>
              </a:rPr>
              <a:t>……………………………..</a:t>
            </a:r>
          </a:p>
          <a:p>
            <a:pPr algn="r"/>
            <a:r>
              <a:rPr lang="fr-CH" sz="1200" dirty="0">
                <a:solidFill>
                  <a:schemeClr val="tx1"/>
                </a:solidFill>
              </a:rPr>
              <a:t>Adresse de </a:t>
            </a:r>
            <a:r>
              <a:rPr lang="fr-CH" sz="1200" dirty="0" err="1">
                <a:solidFill>
                  <a:schemeClr val="tx1"/>
                </a:solidFill>
              </a:rPr>
              <a:t>broadcast</a:t>
            </a:r>
            <a:endParaRPr lang="fr-CH" sz="1200" dirty="0">
              <a:solidFill>
                <a:schemeClr val="tx1"/>
              </a:solidFill>
            </a:endParaRPr>
          </a:p>
          <a:p>
            <a:pPr algn="r"/>
            <a:r>
              <a:rPr lang="fr-CH" sz="1200" dirty="0">
                <a:solidFill>
                  <a:schemeClr val="tx1"/>
                </a:solidFill>
              </a:rPr>
              <a:t>……………………………..</a:t>
            </a:r>
          </a:p>
          <a:p>
            <a:pPr algn="r"/>
            <a:endParaRPr lang="fr-CH" sz="1200" dirty="0">
              <a:solidFill>
                <a:schemeClr val="tx1"/>
              </a:solidFill>
            </a:endParaRPr>
          </a:p>
          <a:p>
            <a:pPr algn="r"/>
            <a:endParaRPr lang="fr-CH" sz="1200" dirty="0">
              <a:solidFill>
                <a:schemeClr val="tx1"/>
              </a:solidFill>
            </a:endParaRPr>
          </a:p>
        </p:txBody>
      </p:sp>
      <p:sp>
        <p:nvSpPr>
          <p:cNvPr id="69" name="Ellipse 68"/>
          <p:cNvSpPr/>
          <p:nvPr/>
        </p:nvSpPr>
        <p:spPr>
          <a:xfrm>
            <a:off x="3214678" y="928670"/>
            <a:ext cx="2643206" cy="185738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200" dirty="0">
                <a:solidFill>
                  <a:schemeClr val="tx1"/>
                </a:solidFill>
              </a:rPr>
              <a:t>Adresse réseau</a:t>
            </a:r>
          </a:p>
          <a:p>
            <a:r>
              <a:rPr lang="fr-CH" sz="1200" dirty="0">
                <a:solidFill>
                  <a:schemeClr val="tx1"/>
                </a:solidFill>
              </a:rPr>
              <a:t>……………………………..</a:t>
            </a:r>
          </a:p>
          <a:p>
            <a:r>
              <a:rPr lang="fr-CH" sz="1200" dirty="0">
                <a:solidFill>
                  <a:schemeClr val="tx1"/>
                </a:solidFill>
              </a:rPr>
              <a:t>Masque de sous réseau</a:t>
            </a:r>
          </a:p>
          <a:p>
            <a:r>
              <a:rPr lang="fr-CH" sz="1200" dirty="0">
                <a:solidFill>
                  <a:schemeClr val="tx1"/>
                </a:solidFill>
              </a:rPr>
              <a:t>……………………………..</a:t>
            </a:r>
          </a:p>
          <a:p>
            <a:r>
              <a:rPr lang="fr-CH" sz="1200" dirty="0">
                <a:solidFill>
                  <a:schemeClr val="tx1"/>
                </a:solidFill>
              </a:rPr>
              <a:t>Adresse de </a:t>
            </a:r>
            <a:r>
              <a:rPr lang="fr-CH" sz="1200" dirty="0" err="1">
                <a:solidFill>
                  <a:schemeClr val="tx1"/>
                </a:solidFill>
              </a:rPr>
              <a:t>broadcast</a:t>
            </a:r>
            <a:endParaRPr lang="fr-CH" sz="1200" dirty="0">
              <a:solidFill>
                <a:schemeClr val="tx1"/>
              </a:solidFill>
            </a:endParaRPr>
          </a:p>
          <a:p>
            <a:r>
              <a:rPr lang="fr-CH" sz="1200" dirty="0">
                <a:solidFill>
                  <a:schemeClr val="tx1"/>
                </a:solidFill>
              </a:rPr>
              <a:t>……………………………..</a:t>
            </a:r>
          </a:p>
          <a:p>
            <a:endParaRPr lang="fr-CH" sz="1200" dirty="0">
              <a:solidFill>
                <a:schemeClr val="tx1"/>
              </a:solidFill>
            </a:endParaRPr>
          </a:p>
          <a:p>
            <a:endParaRPr lang="fr-CH" sz="1200" dirty="0">
              <a:solidFill>
                <a:schemeClr val="tx1"/>
              </a:solidFill>
            </a:endParaRPr>
          </a:p>
        </p:txBody>
      </p:sp>
      <p:sp>
        <p:nvSpPr>
          <p:cNvPr id="8" name="Freeform 9"/>
          <p:cNvSpPr>
            <a:spLocks/>
          </p:cNvSpPr>
          <p:nvPr/>
        </p:nvSpPr>
        <p:spPr bwMode="auto">
          <a:xfrm>
            <a:off x="3286116" y="2357431"/>
            <a:ext cx="2357454" cy="14287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8" y="0"/>
              </a:cxn>
              <a:cxn ang="0">
                <a:pos x="912" y="96"/>
              </a:cxn>
              <a:cxn ang="0">
                <a:pos x="2016" y="96"/>
              </a:cxn>
            </a:cxnLst>
            <a:rect l="0" t="0" r="r" b="b"/>
            <a:pathLst>
              <a:path w="2017" h="97">
                <a:moveTo>
                  <a:pt x="0" y="0"/>
                </a:moveTo>
                <a:lnTo>
                  <a:pt x="1008" y="0"/>
                </a:lnTo>
                <a:lnTo>
                  <a:pt x="912" y="96"/>
                </a:lnTo>
                <a:lnTo>
                  <a:pt x="2016" y="96"/>
                </a:lnTo>
              </a:path>
            </a:pathLst>
          </a:custGeom>
          <a:noFill/>
          <a:ln w="25400" cap="rnd" cmpd="sng">
            <a:solidFill>
              <a:srgbClr val="CF0E30"/>
            </a:solidFill>
            <a:prstDash val="solid"/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rot="2447719">
            <a:off x="2689227" y="3253082"/>
            <a:ext cx="2357454" cy="14287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8" y="0"/>
              </a:cxn>
              <a:cxn ang="0">
                <a:pos x="912" y="96"/>
              </a:cxn>
              <a:cxn ang="0">
                <a:pos x="2016" y="96"/>
              </a:cxn>
            </a:cxnLst>
            <a:rect l="0" t="0" r="r" b="b"/>
            <a:pathLst>
              <a:path w="2017" h="97">
                <a:moveTo>
                  <a:pt x="0" y="0"/>
                </a:moveTo>
                <a:lnTo>
                  <a:pt x="1008" y="0"/>
                </a:lnTo>
                <a:lnTo>
                  <a:pt x="912" y="96"/>
                </a:lnTo>
                <a:lnTo>
                  <a:pt x="2016" y="96"/>
                </a:lnTo>
              </a:path>
            </a:pathLst>
          </a:custGeom>
          <a:noFill/>
          <a:ln w="25400" cap="rnd" cmpd="sng">
            <a:solidFill>
              <a:srgbClr val="CF0E30"/>
            </a:solidFill>
            <a:prstDash val="solid"/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 rot="18502200">
            <a:off x="4252400" y="3040167"/>
            <a:ext cx="2357454" cy="14287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8" y="0"/>
              </a:cxn>
              <a:cxn ang="0">
                <a:pos x="912" y="96"/>
              </a:cxn>
              <a:cxn ang="0">
                <a:pos x="2016" y="96"/>
              </a:cxn>
            </a:cxnLst>
            <a:rect l="0" t="0" r="r" b="b"/>
            <a:pathLst>
              <a:path w="2017" h="97">
                <a:moveTo>
                  <a:pt x="0" y="0"/>
                </a:moveTo>
                <a:lnTo>
                  <a:pt x="1008" y="0"/>
                </a:lnTo>
                <a:lnTo>
                  <a:pt x="912" y="96"/>
                </a:lnTo>
                <a:lnTo>
                  <a:pt x="2016" y="96"/>
                </a:lnTo>
              </a:path>
            </a:pathLst>
          </a:custGeom>
          <a:noFill/>
          <a:ln w="25400" cap="rnd" cmpd="sng">
            <a:solidFill>
              <a:srgbClr val="CF0E30"/>
            </a:solidFill>
            <a:prstDash val="solid"/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7" name="Picture 3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9059" y="6143645"/>
            <a:ext cx="500065" cy="428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Line 47"/>
          <p:cNvSpPr>
            <a:spLocks noChangeShapeType="1"/>
          </p:cNvSpPr>
          <p:nvPr/>
        </p:nvSpPr>
        <p:spPr bwMode="auto">
          <a:xfrm>
            <a:off x="3714744" y="5740736"/>
            <a:ext cx="2886070" cy="45719"/>
          </a:xfrm>
          <a:prstGeom prst="line">
            <a:avLst/>
          </a:prstGeom>
          <a:noFill/>
          <a:ln w="25400">
            <a:solidFill>
              <a:srgbClr val="CF0E30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fr-CH"/>
          </a:p>
        </p:txBody>
      </p:sp>
      <p:cxnSp>
        <p:nvCxnSpPr>
          <p:cNvPr id="18" name="Connecteur droit 17"/>
          <p:cNvCxnSpPr>
            <a:stCxn id="6" idx="2"/>
          </p:cNvCxnSpPr>
          <p:nvPr/>
        </p:nvCxnSpPr>
        <p:spPr>
          <a:xfrm rot="5400000">
            <a:off x="3922308" y="5040721"/>
            <a:ext cx="1466865" cy="24603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 rot="5400000">
            <a:off x="3566312" y="5791217"/>
            <a:ext cx="29527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 rot="5400000">
            <a:off x="6495270" y="5790423"/>
            <a:ext cx="29527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rot="5400000">
            <a:off x="4035421" y="5965050"/>
            <a:ext cx="357190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3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9" y="6142851"/>
            <a:ext cx="500065" cy="428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6" name="Connecteur droit 25"/>
          <p:cNvCxnSpPr/>
          <p:nvPr/>
        </p:nvCxnSpPr>
        <p:spPr>
          <a:xfrm rot="5400000">
            <a:off x="5107786" y="5964256"/>
            <a:ext cx="357190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3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0067" y="1928803"/>
            <a:ext cx="500065" cy="428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" name="Line 47"/>
          <p:cNvSpPr>
            <a:spLocks noChangeShapeType="1"/>
          </p:cNvSpPr>
          <p:nvPr/>
        </p:nvSpPr>
        <p:spPr bwMode="auto">
          <a:xfrm rot="5400000" flipV="1">
            <a:off x="344296" y="1727348"/>
            <a:ext cx="2500329" cy="45719"/>
          </a:xfrm>
          <a:prstGeom prst="line">
            <a:avLst/>
          </a:prstGeom>
          <a:noFill/>
          <a:ln w="25400">
            <a:solidFill>
              <a:srgbClr val="CF0E30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fr-CH" dirty="0"/>
          </a:p>
        </p:txBody>
      </p:sp>
      <p:cxnSp>
        <p:nvCxnSpPr>
          <p:cNvPr id="31" name="Connecteur droit 30"/>
          <p:cNvCxnSpPr/>
          <p:nvPr/>
        </p:nvCxnSpPr>
        <p:spPr>
          <a:xfrm rot="10800000">
            <a:off x="1643042" y="2429662"/>
            <a:ext cx="121444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 rot="10800000">
            <a:off x="1418409" y="500043"/>
            <a:ext cx="29527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rot="10800000">
            <a:off x="1490642" y="2998784"/>
            <a:ext cx="29527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rot="10800000" flipV="1">
            <a:off x="1142977" y="2071676"/>
            <a:ext cx="427833" cy="1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0861" y="2643182"/>
            <a:ext cx="500065" cy="428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6" name="Connecteur droit 35"/>
          <p:cNvCxnSpPr/>
          <p:nvPr/>
        </p:nvCxnSpPr>
        <p:spPr>
          <a:xfrm rot="10800000">
            <a:off x="1214413" y="2786058"/>
            <a:ext cx="357190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430" y="2571744"/>
            <a:ext cx="500065" cy="428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" name="Line 47"/>
          <p:cNvSpPr>
            <a:spLocks noChangeShapeType="1"/>
          </p:cNvSpPr>
          <p:nvPr/>
        </p:nvSpPr>
        <p:spPr bwMode="auto">
          <a:xfrm rot="16200000">
            <a:off x="6392255" y="1963106"/>
            <a:ext cx="2171689" cy="45719"/>
          </a:xfrm>
          <a:prstGeom prst="line">
            <a:avLst/>
          </a:prstGeom>
          <a:noFill/>
          <a:ln w="25400">
            <a:solidFill>
              <a:srgbClr val="CF0E30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fr-CH"/>
          </a:p>
        </p:txBody>
      </p:sp>
      <p:cxnSp>
        <p:nvCxnSpPr>
          <p:cNvPr id="40" name="Connecteur droit 39"/>
          <p:cNvCxnSpPr/>
          <p:nvPr/>
        </p:nvCxnSpPr>
        <p:spPr>
          <a:xfrm>
            <a:off x="6286513" y="2428868"/>
            <a:ext cx="121444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>
            <a:off x="7348558" y="3070222"/>
            <a:ext cx="29527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7358083" y="857233"/>
            <a:ext cx="29527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7501753" y="2786058"/>
            <a:ext cx="357190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3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1636" y="2035960"/>
            <a:ext cx="500065" cy="428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5" name="Connecteur droit 44"/>
          <p:cNvCxnSpPr/>
          <p:nvPr/>
        </p:nvCxnSpPr>
        <p:spPr>
          <a:xfrm>
            <a:off x="7500959" y="2213760"/>
            <a:ext cx="357190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7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860" y="2143116"/>
            <a:ext cx="90646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7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2143116"/>
            <a:ext cx="90646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7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3786190"/>
            <a:ext cx="90646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9"/>
          <p:cNvSpPr>
            <a:spLocks/>
          </p:cNvSpPr>
          <p:nvPr/>
        </p:nvSpPr>
        <p:spPr bwMode="auto">
          <a:xfrm>
            <a:off x="3286116" y="2357431"/>
            <a:ext cx="2357454" cy="14287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8" y="0"/>
              </a:cxn>
              <a:cxn ang="0">
                <a:pos x="912" y="96"/>
              </a:cxn>
              <a:cxn ang="0">
                <a:pos x="2016" y="96"/>
              </a:cxn>
            </a:cxnLst>
            <a:rect l="0" t="0" r="r" b="b"/>
            <a:pathLst>
              <a:path w="2017" h="97">
                <a:moveTo>
                  <a:pt x="0" y="0"/>
                </a:moveTo>
                <a:lnTo>
                  <a:pt x="1008" y="0"/>
                </a:lnTo>
                <a:lnTo>
                  <a:pt x="912" y="96"/>
                </a:lnTo>
                <a:lnTo>
                  <a:pt x="2016" y="96"/>
                </a:lnTo>
              </a:path>
            </a:pathLst>
          </a:custGeom>
          <a:noFill/>
          <a:ln w="25400" cap="rnd" cmpd="sng">
            <a:solidFill>
              <a:srgbClr val="CF0E30"/>
            </a:solidFill>
            <a:prstDash val="solid"/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rot="2447719">
            <a:off x="2689227" y="3253082"/>
            <a:ext cx="2357454" cy="14287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8" y="0"/>
              </a:cxn>
              <a:cxn ang="0">
                <a:pos x="912" y="96"/>
              </a:cxn>
              <a:cxn ang="0">
                <a:pos x="2016" y="96"/>
              </a:cxn>
            </a:cxnLst>
            <a:rect l="0" t="0" r="r" b="b"/>
            <a:pathLst>
              <a:path w="2017" h="97">
                <a:moveTo>
                  <a:pt x="0" y="0"/>
                </a:moveTo>
                <a:lnTo>
                  <a:pt x="1008" y="0"/>
                </a:lnTo>
                <a:lnTo>
                  <a:pt x="912" y="96"/>
                </a:lnTo>
                <a:lnTo>
                  <a:pt x="2016" y="96"/>
                </a:lnTo>
              </a:path>
            </a:pathLst>
          </a:custGeom>
          <a:noFill/>
          <a:ln w="25400" cap="rnd" cmpd="sng">
            <a:solidFill>
              <a:srgbClr val="CF0E30"/>
            </a:solidFill>
            <a:prstDash val="solid"/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 rot="18502200">
            <a:off x="4252400" y="3040167"/>
            <a:ext cx="2357454" cy="14287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8" y="0"/>
              </a:cxn>
              <a:cxn ang="0">
                <a:pos x="912" y="96"/>
              </a:cxn>
              <a:cxn ang="0">
                <a:pos x="2016" y="96"/>
              </a:cxn>
            </a:cxnLst>
            <a:rect l="0" t="0" r="r" b="b"/>
            <a:pathLst>
              <a:path w="2017" h="97">
                <a:moveTo>
                  <a:pt x="0" y="0"/>
                </a:moveTo>
                <a:lnTo>
                  <a:pt x="1008" y="0"/>
                </a:lnTo>
                <a:lnTo>
                  <a:pt x="912" y="96"/>
                </a:lnTo>
                <a:lnTo>
                  <a:pt x="2016" y="96"/>
                </a:lnTo>
              </a:path>
            </a:pathLst>
          </a:custGeom>
          <a:noFill/>
          <a:ln w="25400" cap="rnd" cmpd="sng">
            <a:solidFill>
              <a:srgbClr val="CF0E30"/>
            </a:solidFill>
            <a:prstDash val="solid"/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</p:spPr>
        <p:txBody>
          <a:bodyPr/>
          <a:lstStyle/>
          <a:p>
            <a:endParaRPr lang="fr-CH"/>
          </a:p>
        </p:txBody>
      </p:sp>
      <p:pic>
        <p:nvPicPr>
          <p:cNvPr id="7" name="Picture 3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6143645"/>
            <a:ext cx="500065" cy="428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Line 47"/>
          <p:cNvSpPr>
            <a:spLocks noChangeShapeType="1"/>
          </p:cNvSpPr>
          <p:nvPr/>
        </p:nvSpPr>
        <p:spPr bwMode="auto">
          <a:xfrm>
            <a:off x="3000364" y="5786455"/>
            <a:ext cx="3600450" cy="0"/>
          </a:xfrm>
          <a:prstGeom prst="line">
            <a:avLst/>
          </a:prstGeom>
          <a:noFill/>
          <a:ln w="25400">
            <a:solidFill>
              <a:srgbClr val="CF0E30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fr-CH"/>
          </a:p>
        </p:txBody>
      </p:sp>
      <p:cxnSp>
        <p:nvCxnSpPr>
          <p:cNvPr id="18" name="Connecteur droit 17"/>
          <p:cNvCxnSpPr>
            <a:stCxn id="6" idx="2"/>
          </p:cNvCxnSpPr>
          <p:nvPr/>
        </p:nvCxnSpPr>
        <p:spPr>
          <a:xfrm rot="5400000">
            <a:off x="3922308" y="5040721"/>
            <a:ext cx="1466865" cy="24603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 rot="5400000">
            <a:off x="2852726" y="5791217"/>
            <a:ext cx="29527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 rot="5400000">
            <a:off x="6495270" y="5790423"/>
            <a:ext cx="29527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rot="5400000">
            <a:off x="3607587" y="5965050"/>
            <a:ext cx="357190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3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9" y="6142851"/>
            <a:ext cx="500065" cy="428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6" name="Connecteur droit 25"/>
          <p:cNvCxnSpPr/>
          <p:nvPr/>
        </p:nvCxnSpPr>
        <p:spPr>
          <a:xfrm rot="5400000">
            <a:off x="5107786" y="5964256"/>
            <a:ext cx="357190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3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0067" y="1785927"/>
            <a:ext cx="500065" cy="428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" name="Line 47"/>
          <p:cNvSpPr>
            <a:spLocks noChangeShapeType="1"/>
          </p:cNvSpPr>
          <p:nvPr/>
        </p:nvSpPr>
        <p:spPr bwMode="auto">
          <a:xfrm rot="5400000">
            <a:off x="-228623" y="2586813"/>
            <a:ext cx="3600450" cy="0"/>
          </a:xfrm>
          <a:prstGeom prst="line">
            <a:avLst/>
          </a:prstGeom>
          <a:noFill/>
          <a:ln w="25400">
            <a:solidFill>
              <a:srgbClr val="CF0E30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fr-CH" dirty="0"/>
          </a:p>
        </p:txBody>
      </p:sp>
      <p:cxnSp>
        <p:nvCxnSpPr>
          <p:cNvPr id="31" name="Connecteur droit 30"/>
          <p:cNvCxnSpPr/>
          <p:nvPr/>
        </p:nvCxnSpPr>
        <p:spPr>
          <a:xfrm rot="10800000">
            <a:off x="1571603" y="2429662"/>
            <a:ext cx="121444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 rot="10800000">
            <a:off x="1418409" y="785794"/>
            <a:ext cx="29527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rot="10800000">
            <a:off x="1419203" y="4428338"/>
            <a:ext cx="29527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rot="10800000" flipV="1">
            <a:off x="1142977" y="1928800"/>
            <a:ext cx="427833" cy="1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0861" y="2822572"/>
            <a:ext cx="500065" cy="428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6" name="Connecteur droit 35"/>
          <p:cNvCxnSpPr/>
          <p:nvPr/>
        </p:nvCxnSpPr>
        <p:spPr>
          <a:xfrm rot="10800000">
            <a:off x="1214413" y="3071811"/>
            <a:ext cx="357190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2430" y="3000372"/>
            <a:ext cx="500065" cy="428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" name="Line 47"/>
          <p:cNvSpPr>
            <a:spLocks noChangeShapeType="1"/>
          </p:cNvSpPr>
          <p:nvPr/>
        </p:nvSpPr>
        <p:spPr bwMode="auto">
          <a:xfrm rot="16200000">
            <a:off x="5700734" y="2700346"/>
            <a:ext cx="3600450" cy="0"/>
          </a:xfrm>
          <a:prstGeom prst="line">
            <a:avLst/>
          </a:prstGeom>
          <a:noFill/>
          <a:ln w="25400">
            <a:solidFill>
              <a:srgbClr val="CF0E30"/>
            </a:solidFill>
            <a:round/>
            <a:headEnd type="none" w="sm" len="sm"/>
            <a:tailEnd type="none" w="sm" len="sm"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fr-CH"/>
          </a:p>
        </p:txBody>
      </p:sp>
      <p:cxnSp>
        <p:nvCxnSpPr>
          <p:cNvPr id="40" name="Connecteur droit 39"/>
          <p:cNvCxnSpPr/>
          <p:nvPr/>
        </p:nvCxnSpPr>
        <p:spPr>
          <a:xfrm>
            <a:off x="6286513" y="2428868"/>
            <a:ext cx="121444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>
            <a:off x="7358877" y="4499777"/>
            <a:ext cx="29527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7358083" y="857233"/>
            <a:ext cx="295276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7501753" y="3143248"/>
            <a:ext cx="357190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34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21636" y="2035960"/>
            <a:ext cx="500065" cy="428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5" name="Connecteur droit 44"/>
          <p:cNvCxnSpPr/>
          <p:nvPr/>
        </p:nvCxnSpPr>
        <p:spPr>
          <a:xfrm>
            <a:off x="7500959" y="2213760"/>
            <a:ext cx="357190" cy="158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7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860" y="2143116"/>
            <a:ext cx="90646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7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2143116"/>
            <a:ext cx="90646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6" name="Rectangle à coins arrondis 45"/>
          <p:cNvSpPr/>
          <p:nvPr/>
        </p:nvSpPr>
        <p:spPr>
          <a:xfrm>
            <a:off x="3000364" y="142852"/>
            <a:ext cx="1571636" cy="928694"/>
          </a:xfrm>
          <a:prstGeom prst="wedgeRoundRectCallout">
            <a:avLst>
              <a:gd name="adj1" fmla="val -25195"/>
              <a:gd name="adj2" fmla="val 177830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FastEthernet2/0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 : ……………..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 : ……….</a:t>
            </a:r>
          </a:p>
        </p:txBody>
      </p:sp>
      <p:sp>
        <p:nvSpPr>
          <p:cNvPr id="47" name="Rectangle à coins arrondis 46"/>
          <p:cNvSpPr/>
          <p:nvPr/>
        </p:nvSpPr>
        <p:spPr>
          <a:xfrm>
            <a:off x="1643042" y="1142984"/>
            <a:ext cx="1500198" cy="928694"/>
          </a:xfrm>
          <a:prstGeom prst="wedgeRoundRectCallout">
            <a:avLst>
              <a:gd name="adj1" fmla="val -1282"/>
              <a:gd name="adj2" fmla="val 79369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FastEthernet0/0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 : ……………..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 : ……….</a:t>
            </a:r>
          </a:p>
        </p:txBody>
      </p:sp>
      <p:sp>
        <p:nvSpPr>
          <p:cNvPr id="48" name="Rectangle à coins arrondis 47"/>
          <p:cNvSpPr/>
          <p:nvPr/>
        </p:nvSpPr>
        <p:spPr>
          <a:xfrm>
            <a:off x="4643438" y="142852"/>
            <a:ext cx="1785950" cy="928694"/>
          </a:xfrm>
          <a:prstGeom prst="wedgeRoundRectCallout">
            <a:avLst>
              <a:gd name="adj1" fmla="val -2442"/>
              <a:gd name="adj2" fmla="val 190257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FastEthernet1/0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 : ……………………..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 : ……………….</a:t>
            </a:r>
          </a:p>
        </p:txBody>
      </p:sp>
      <p:sp>
        <p:nvSpPr>
          <p:cNvPr id="49" name="Rectangle à coins arrondis 48"/>
          <p:cNvSpPr/>
          <p:nvPr/>
        </p:nvSpPr>
        <p:spPr>
          <a:xfrm>
            <a:off x="5929322" y="1142984"/>
            <a:ext cx="1500198" cy="928694"/>
          </a:xfrm>
          <a:prstGeom prst="wedgeRoundRectCallout">
            <a:avLst>
              <a:gd name="adj1" fmla="val 1085"/>
              <a:gd name="adj2" fmla="val 79369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FastEthernet0/0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 : ……………..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 : ……….</a:t>
            </a:r>
          </a:p>
        </p:txBody>
      </p:sp>
      <p:sp>
        <p:nvSpPr>
          <p:cNvPr id="50" name="Rectangle à coins arrondis 49"/>
          <p:cNvSpPr/>
          <p:nvPr/>
        </p:nvSpPr>
        <p:spPr>
          <a:xfrm>
            <a:off x="1643042" y="2786058"/>
            <a:ext cx="1500198" cy="928694"/>
          </a:xfrm>
          <a:prstGeom prst="wedgeRoundRectCallout">
            <a:avLst>
              <a:gd name="adj1" fmla="val 48426"/>
              <a:gd name="adj2" fmla="val -5924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FastEthernet1/0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 : ……………..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 : ……….</a:t>
            </a:r>
          </a:p>
        </p:txBody>
      </p:sp>
      <p:sp>
        <p:nvSpPr>
          <p:cNvPr id="51" name="Rectangle à coins arrondis 50"/>
          <p:cNvSpPr/>
          <p:nvPr/>
        </p:nvSpPr>
        <p:spPr>
          <a:xfrm>
            <a:off x="5929322" y="2786058"/>
            <a:ext cx="1500198" cy="928694"/>
          </a:xfrm>
          <a:prstGeom prst="wedgeRoundRectCallout">
            <a:avLst>
              <a:gd name="adj1" fmla="val -48623"/>
              <a:gd name="adj2" fmla="val -57329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FastEthernet2/0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 : ……………..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 : ……….</a:t>
            </a:r>
          </a:p>
        </p:txBody>
      </p:sp>
      <p:pic>
        <p:nvPicPr>
          <p:cNvPr id="6" name="Picture 37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3786190"/>
            <a:ext cx="90646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2" name="Rectangle à coins arrondis 51"/>
          <p:cNvSpPr/>
          <p:nvPr/>
        </p:nvSpPr>
        <p:spPr>
          <a:xfrm>
            <a:off x="2143108" y="3786190"/>
            <a:ext cx="1500198" cy="928694"/>
          </a:xfrm>
          <a:prstGeom prst="wedgeRoundRectCallout">
            <a:avLst>
              <a:gd name="adj1" fmla="val 86299"/>
              <a:gd name="adj2" fmla="val -49682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FastEthernet2/0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 : ……………..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 : ……….</a:t>
            </a:r>
          </a:p>
        </p:txBody>
      </p:sp>
      <p:sp>
        <p:nvSpPr>
          <p:cNvPr id="53" name="Rectangle à coins arrondis 52"/>
          <p:cNvSpPr/>
          <p:nvPr/>
        </p:nvSpPr>
        <p:spPr>
          <a:xfrm>
            <a:off x="5500694" y="3786190"/>
            <a:ext cx="1500198" cy="928694"/>
          </a:xfrm>
          <a:prstGeom prst="wedgeRoundRectCallout">
            <a:avLst>
              <a:gd name="adj1" fmla="val -82354"/>
              <a:gd name="adj2" fmla="val -58285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FastEthernet1/0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 : ……………..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 : ……….</a:t>
            </a:r>
          </a:p>
        </p:txBody>
      </p:sp>
      <p:sp>
        <p:nvSpPr>
          <p:cNvPr id="54" name="Rectangle à coins arrondis 53"/>
          <p:cNvSpPr/>
          <p:nvPr/>
        </p:nvSpPr>
        <p:spPr>
          <a:xfrm>
            <a:off x="4857752" y="4786322"/>
            <a:ext cx="1500198" cy="928694"/>
          </a:xfrm>
          <a:prstGeom prst="wedgeRoundRectCallout">
            <a:avLst>
              <a:gd name="adj1" fmla="val -59275"/>
              <a:gd name="adj2" fmla="val -92698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FastEthernet0/0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 : ……………..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 : ……….</a:t>
            </a:r>
          </a:p>
        </p:txBody>
      </p:sp>
      <p:sp>
        <p:nvSpPr>
          <p:cNvPr id="56" name="Rectangle à coins arrondis 55"/>
          <p:cNvSpPr/>
          <p:nvPr/>
        </p:nvSpPr>
        <p:spPr>
          <a:xfrm>
            <a:off x="-33" y="71414"/>
            <a:ext cx="1570839" cy="1428760"/>
          </a:xfrm>
          <a:prstGeom prst="wedgeRoundRectCallout">
            <a:avLst>
              <a:gd name="adj1" fmla="val -1282"/>
              <a:gd name="adj2" fmla="val 79369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dirty="0">
                <a:solidFill>
                  <a:schemeClr val="tx1"/>
                </a:solidFill>
              </a:rPr>
              <a:t>PC1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@IP: .…..………….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Masque: </a:t>
            </a:r>
          </a:p>
          <a:p>
            <a:r>
              <a:rPr lang="fr-CH" sz="1400" dirty="0">
                <a:solidFill>
                  <a:schemeClr val="tx1"/>
                </a:solidFill>
              </a:rPr>
              <a:t>……………….………</a:t>
            </a:r>
          </a:p>
          <a:p>
            <a:r>
              <a:rPr lang="fr-CH" sz="1400" dirty="0">
                <a:solidFill>
                  <a:schemeClr val="tx1"/>
                </a:solidFill>
              </a:rPr>
              <a:t>Passerelle (DFG)</a:t>
            </a:r>
          </a:p>
          <a:p>
            <a:r>
              <a:rPr lang="fr-CH" sz="1400" dirty="0">
                <a:solidFill>
                  <a:schemeClr val="tx1"/>
                </a:solidFill>
              </a:rPr>
              <a:t>……………………….</a:t>
            </a:r>
          </a:p>
        </p:txBody>
      </p:sp>
      <p:sp>
        <p:nvSpPr>
          <p:cNvPr id="59" name="Rectangle à coins arrondis 58"/>
          <p:cNvSpPr/>
          <p:nvPr/>
        </p:nvSpPr>
        <p:spPr>
          <a:xfrm>
            <a:off x="-32" y="3500438"/>
            <a:ext cx="1500198" cy="1428760"/>
          </a:xfrm>
          <a:prstGeom prst="wedgeRoundRectCallout">
            <a:avLst>
              <a:gd name="adj1" fmla="val 1085"/>
              <a:gd name="adj2" fmla="val -66028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PC2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@IP: .…..………….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Masque: </a:t>
            </a:r>
          </a:p>
          <a:p>
            <a:r>
              <a:rPr lang="fr-CH" sz="1400" dirty="0">
                <a:solidFill>
                  <a:schemeClr val="tx1"/>
                </a:solidFill>
              </a:rPr>
              <a:t>……………….………</a:t>
            </a:r>
          </a:p>
          <a:p>
            <a:r>
              <a:rPr lang="fr-CH" sz="1400" dirty="0">
                <a:solidFill>
                  <a:schemeClr val="tx1"/>
                </a:solidFill>
              </a:rPr>
              <a:t>Passerelle (DFG)</a:t>
            </a:r>
          </a:p>
          <a:p>
            <a:r>
              <a:rPr lang="fr-CH" sz="1400" dirty="0">
                <a:solidFill>
                  <a:schemeClr val="tx1"/>
                </a:solidFill>
              </a:rPr>
              <a:t>……………………….</a:t>
            </a:r>
          </a:p>
        </p:txBody>
      </p:sp>
      <p:sp>
        <p:nvSpPr>
          <p:cNvPr id="60" name="Rectangle à coins arrondis 59"/>
          <p:cNvSpPr/>
          <p:nvPr/>
        </p:nvSpPr>
        <p:spPr>
          <a:xfrm>
            <a:off x="1142976" y="5214950"/>
            <a:ext cx="1500198" cy="1428760"/>
          </a:xfrm>
          <a:prstGeom prst="wedgeRoundRectCallout">
            <a:avLst>
              <a:gd name="adj1" fmla="val 107011"/>
              <a:gd name="adj2" fmla="val 26554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PC3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@IP: .…..………….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Masque: </a:t>
            </a:r>
          </a:p>
          <a:p>
            <a:r>
              <a:rPr lang="fr-CH" sz="1400" dirty="0">
                <a:solidFill>
                  <a:schemeClr val="tx1"/>
                </a:solidFill>
              </a:rPr>
              <a:t>……………….………</a:t>
            </a:r>
          </a:p>
          <a:p>
            <a:r>
              <a:rPr lang="fr-CH" sz="1400" dirty="0">
                <a:solidFill>
                  <a:schemeClr val="tx1"/>
                </a:solidFill>
              </a:rPr>
              <a:t>Passerelle (DFG)</a:t>
            </a:r>
          </a:p>
          <a:p>
            <a:r>
              <a:rPr lang="fr-CH" sz="1400" dirty="0">
                <a:solidFill>
                  <a:schemeClr val="tx1"/>
                </a:solidFill>
              </a:rPr>
              <a:t>……………………….</a:t>
            </a:r>
          </a:p>
        </p:txBody>
      </p:sp>
      <p:sp>
        <p:nvSpPr>
          <p:cNvPr id="61" name="Rectangle à coins arrondis 60"/>
          <p:cNvSpPr/>
          <p:nvPr/>
        </p:nvSpPr>
        <p:spPr>
          <a:xfrm>
            <a:off x="6786578" y="5214950"/>
            <a:ext cx="1500198" cy="1428760"/>
          </a:xfrm>
          <a:prstGeom prst="wedgeRoundRectCallout">
            <a:avLst>
              <a:gd name="adj1" fmla="val -128512"/>
              <a:gd name="adj2" fmla="val 26554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PC4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@IP: .…..………….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Masque: </a:t>
            </a:r>
          </a:p>
          <a:p>
            <a:r>
              <a:rPr lang="fr-CH" sz="1400" dirty="0">
                <a:solidFill>
                  <a:schemeClr val="tx1"/>
                </a:solidFill>
              </a:rPr>
              <a:t>……………….………</a:t>
            </a:r>
          </a:p>
          <a:p>
            <a:r>
              <a:rPr lang="fr-CH" sz="1400" dirty="0">
                <a:solidFill>
                  <a:schemeClr val="tx1"/>
                </a:solidFill>
              </a:rPr>
              <a:t>Passerelle (DFG)</a:t>
            </a:r>
          </a:p>
          <a:p>
            <a:r>
              <a:rPr lang="fr-CH" sz="1400" dirty="0">
                <a:solidFill>
                  <a:schemeClr val="tx1"/>
                </a:solidFill>
              </a:rPr>
              <a:t>……………………….</a:t>
            </a:r>
          </a:p>
        </p:txBody>
      </p:sp>
      <p:sp>
        <p:nvSpPr>
          <p:cNvPr id="62" name="Rectangle à coins arrondis 61"/>
          <p:cNvSpPr/>
          <p:nvPr/>
        </p:nvSpPr>
        <p:spPr>
          <a:xfrm>
            <a:off x="7643834" y="142852"/>
            <a:ext cx="1500198" cy="1428760"/>
          </a:xfrm>
          <a:prstGeom prst="wedgeRoundRectCallout">
            <a:avLst>
              <a:gd name="adj1" fmla="val -23177"/>
              <a:gd name="adj2" fmla="val 74398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PC6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@IP: .…..………….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Masque: </a:t>
            </a:r>
          </a:p>
          <a:p>
            <a:r>
              <a:rPr lang="fr-CH" sz="1400" dirty="0">
                <a:solidFill>
                  <a:schemeClr val="tx1"/>
                </a:solidFill>
              </a:rPr>
              <a:t>……………….………</a:t>
            </a:r>
          </a:p>
          <a:p>
            <a:r>
              <a:rPr lang="fr-CH" sz="1400" dirty="0">
                <a:solidFill>
                  <a:schemeClr val="tx1"/>
                </a:solidFill>
              </a:rPr>
              <a:t>Passerelle (DFG)</a:t>
            </a:r>
          </a:p>
          <a:p>
            <a:r>
              <a:rPr lang="fr-CH" sz="1400" dirty="0">
                <a:solidFill>
                  <a:schemeClr val="tx1"/>
                </a:solidFill>
              </a:rPr>
              <a:t>……………………….</a:t>
            </a:r>
          </a:p>
        </p:txBody>
      </p:sp>
      <p:sp>
        <p:nvSpPr>
          <p:cNvPr id="63" name="Rectangle à coins arrondis 62"/>
          <p:cNvSpPr/>
          <p:nvPr/>
        </p:nvSpPr>
        <p:spPr>
          <a:xfrm>
            <a:off x="7643834" y="3643314"/>
            <a:ext cx="1500198" cy="1428760"/>
          </a:xfrm>
          <a:prstGeom prst="wedgeRoundRectCallout">
            <a:avLst>
              <a:gd name="adj1" fmla="val -23769"/>
              <a:gd name="adj2" fmla="val -61679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400" u="sng" dirty="0">
                <a:solidFill>
                  <a:schemeClr val="tx1"/>
                </a:solidFill>
              </a:rPr>
              <a:t>PC5</a:t>
            </a:r>
          </a:p>
          <a:p>
            <a:r>
              <a:rPr lang="fr-CH" sz="1400" dirty="0">
                <a:solidFill>
                  <a:schemeClr val="tx1"/>
                </a:solidFill>
              </a:rPr>
              <a:t>@IP: .…..………….</a:t>
            </a:r>
          </a:p>
          <a:p>
            <a:r>
              <a:rPr lang="fr-CH" sz="1400" dirty="0">
                <a:solidFill>
                  <a:schemeClr val="tx1"/>
                </a:solidFill>
              </a:rPr>
              <a:t>Masque: </a:t>
            </a:r>
          </a:p>
          <a:p>
            <a:r>
              <a:rPr lang="fr-CH" sz="1400" dirty="0">
                <a:solidFill>
                  <a:schemeClr val="tx1"/>
                </a:solidFill>
              </a:rPr>
              <a:t>……………….………</a:t>
            </a:r>
          </a:p>
          <a:p>
            <a:r>
              <a:rPr lang="fr-CH" sz="1400" dirty="0">
                <a:solidFill>
                  <a:schemeClr val="tx1"/>
                </a:solidFill>
              </a:rPr>
              <a:t>Passerelle (DFG)</a:t>
            </a:r>
          </a:p>
          <a:p>
            <a:r>
              <a:rPr lang="fr-CH" sz="1400" dirty="0">
                <a:solidFill>
                  <a:schemeClr val="tx1"/>
                </a:solidFill>
              </a:rPr>
              <a:t>……………………….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</Words>
  <Application>Microsoft Office PowerPoint</Application>
  <PresentationFormat>On-screen Show (4:3)</PresentationFormat>
  <Paragraphs>172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Thème Office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devauda</dc:creator>
  <cp:lastModifiedBy>Dévaud Alexandre</cp:lastModifiedBy>
  <cp:revision>11</cp:revision>
  <dcterms:created xsi:type="dcterms:W3CDTF">2007-04-10T10:46:34Z</dcterms:created>
  <dcterms:modified xsi:type="dcterms:W3CDTF">2025-10-16T17:29:08Z</dcterms:modified>
</cp:coreProperties>
</file>